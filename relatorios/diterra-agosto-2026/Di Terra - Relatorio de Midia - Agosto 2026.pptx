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1F28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61F28"/>
                </a:solidFill>
                <a:latin typeface="Cambria"/>
              </a:rPr>
              <a:t>Leads por canal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Julho</c:v>
                </c:pt>
              </c:strCache>
            </c:strRef>
          </c:tx>
          <c:spPr>
            <a:solidFill>
              <a:srgbClr val="C2CA97"/>
            </a:solidFill>
            <a:effectLst/>
          </c:spPr>
          <c:invertIfNegative val="0"/>
          <c:dLbls>
            <c:numFmt formatCode="[$-416]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Meta Ads</c:v>
                </c:pt>
                <c:pt idx="1">
                  <c:v>Google Ads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906</c:v>
                </c:pt>
                <c:pt idx="1">
                  <c:v>505</c:v>
                </c:pt>
                <c:pt idx="2">
                  <c:v>1411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Agosto</c:v>
                </c:pt>
              </c:strCache>
            </c:strRef>
          </c:tx>
          <c:spPr>
            <a:solidFill>
              <a:srgbClr val="8A65C4"/>
            </a:solidFill>
            <a:effectLst/>
          </c:spPr>
          <c:invertIfNegative val="0"/>
          <c:dLbls>
            <c:numFmt formatCode="[$-416]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Meta Ads</c:v>
                </c:pt>
                <c:pt idx="1">
                  <c:v>Google Ads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1051</c:v>
                </c:pt>
                <c:pt idx="1">
                  <c:v>421</c:v>
                </c:pt>
                <c:pt idx="2">
                  <c:v>1472</c:v>
                </c:pt>
              </c:numCache>
            </c:numRef>
          </c:val>
        </c:ser>
        <c:dLbls>
          <c:numFmt formatCode="[$-416]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61F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1F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0"/>
          <c:min val="0"/>
        </c:scaling>
        <c:delete val="0"/>
        <c:axPos val="l"/>
        <c:majorGridlines>
          <c:spPr>
            <a:ln w="9525" cap="flat">
              <a:solidFill>
                <a:srgbClr val="DAD7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EBD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8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EDEBD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1F28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61F28"/>
                </a:solidFill>
                <a:latin typeface="Cambria"/>
              </a:rPr>
              <a:t>Custo por lead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Julho</c:v>
                </c:pt>
              </c:strCache>
            </c:strRef>
          </c:tx>
          <c:spPr>
            <a:solidFill>
              <a:srgbClr val="C2CA97"/>
            </a:solidFill>
            <a:effectLst/>
          </c:spPr>
          <c:invertIfNegative val="0"/>
          <c:dLbls>
            <c:numFmt formatCode="[$-416]#,##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Meta Ads</c:v>
                </c:pt>
                <c:pt idx="1">
                  <c:v>Google Ads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39.03</c:v>
                </c:pt>
                <c:pt idx="1">
                  <c:v>35.01</c:v>
                </c:pt>
                <c:pt idx="2">
                  <c:v>37.59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Agosto</c:v>
                </c:pt>
              </c:strCache>
            </c:strRef>
          </c:tx>
          <c:spPr>
            <a:solidFill>
              <a:srgbClr val="8A65C4"/>
            </a:solidFill>
            <a:effectLst/>
          </c:spPr>
          <c:invertIfNegative val="0"/>
          <c:dLbls>
            <c:numFmt formatCode="[$-416]#,##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Meta Ads</c:v>
                </c:pt>
                <c:pt idx="1">
                  <c:v>Google Ads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35.23</c:v>
                </c:pt>
                <c:pt idx="1">
                  <c:v>34.55</c:v>
                </c:pt>
                <c:pt idx="2">
                  <c:v>35.04</c:v>
                </c:pt>
              </c:numCache>
            </c:numRef>
          </c:val>
        </c:ser>
        <c:dLbls>
          <c:numFmt formatCode="[$-416]#,##0.00" sourceLinked="0"/>
          <c:txPr>
            <a:bodyPr/>
            <a:lstStyle/>
            <a:p>
              <a:pPr>
                <a:defRPr b="1" i="0" strike="noStrike" sz="1000" u="none">
                  <a:solidFill>
                    <a:srgbClr val="161F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1F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0"/>
        <c:axPos val="l"/>
        <c:majorGridlines>
          <c:spPr>
            <a:ln w="9525" cap="flat">
              <a:solidFill>
                <a:srgbClr val="DAD7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EBD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8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EDEBD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1F28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61F28"/>
                </a:solidFill>
                <a:latin typeface="Cambria"/>
              </a:rPr>
              <a:t>Leads do Meta por tipo de conversão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Julho</c:v>
                </c:pt>
              </c:strCache>
            </c:strRef>
          </c:tx>
          <c:spPr>
            <a:solidFill>
              <a:srgbClr val="C2CA97"/>
            </a:solidFill>
            <a:effectLst/>
          </c:spPr>
          <c:invertIfNegative val="0"/>
          <c:dLbls>
            <c:numFmt formatCode="[$-416]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Formulário Meta (lead ads)</c:v>
                </c:pt>
                <c:pt idx="1">
                  <c:v>Formulário no site (pixel)</c:v>
                </c:pt>
                <c:pt idx="2">
                  <c:v>Conversas no WhatsApp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366</c:v>
                </c:pt>
                <c:pt idx="1">
                  <c:v>413</c:v>
                </c:pt>
                <c:pt idx="2">
                  <c:v>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Agosto</c:v>
                </c:pt>
              </c:strCache>
            </c:strRef>
          </c:tx>
          <c:spPr>
            <a:solidFill>
              <a:srgbClr val="8A65C4"/>
            </a:solidFill>
            <a:effectLst/>
          </c:spPr>
          <c:invertIfNegative val="0"/>
          <c:dLbls>
            <c:numFmt formatCode="[$-416]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Formulário Meta (lead ads)</c:v>
                </c:pt>
                <c:pt idx="1">
                  <c:v>Formulário no site (pixel)</c:v>
                </c:pt>
                <c:pt idx="2">
                  <c:v>Conversas no WhatsApp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711</c:v>
                </c:pt>
                <c:pt idx="1">
                  <c:v>245</c:v>
                </c:pt>
                <c:pt idx="2">
                  <c:v>95</c:v>
                </c:pt>
              </c:numCache>
            </c:numRef>
          </c:val>
        </c:ser>
        <c:dLbls>
          <c:numFmt formatCode="[$-416]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61F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1F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  <c:min val="0"/>
        </c:scaling>
        <c:delete val="0"/>
        <c:axPos val="l"/>
        <c:majorGridlines>
          <c:spPr>
            <a:ln w="9525" cap="flat">
              <a:solidFill>
                <a:srgbClr val="DAD7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EBD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8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EDEBD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1F28"/>
                </a:solidFill>
                <a:latin typeface="Cambria"/>
              </a:defRPr>
            </a:pPr>
            <a:r>
              <a:rPr sz="1300" b="1" i="0" u="none" strike="noStrike">
                <a:solidFill>
                  <a:srgbClr val="161F28"/>
                </a:solidFill>
                <a:latin typeface="Cambria"/>
              </a:rPr>
              <a:t>Custo por lead por campanha — agosto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por lead (R$)</c:v>
                </c:pt>
              </c:strCache>
            </c:strRef>
          </c:tx>
          <c:spPr>
            <a:solidFill>
              <a:srgbClr val="8A65C4"/>
            </a:solidFill>
            <a:effectLst/>
          </c:spPr>
          <c:invertIfNegative val="0"/>
          <c:dLbls>
            <c:numFmt formatCode="[$-416]#,##0.0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61F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Corporativo (PMax)</c:v>
                </c:pt>
                <c:pt idx="1">
                  <c:v>Casamento (PMax)</c:v>
                </c:pt>
                <c:pt idx="2">
                  <c:v>TERRÁ | INSTITUCIONAL</c:v>
                </c:pt>
                <c:pt idx="3">
                  <c:v>QUERÊNCIA | CASAMENTO</c:v>
                </c:pt>
                <c:pt idx="4">
                  <c:v>DEBUTANTES | TERRÁ</c:v>
                </c:pt>
                <c:pt idx="5">
                  <c:v>BODAS | TERRÁ</c:v>
                </c:pt>
                <c:pt idx="6">
                  <c:v>CASAMENTO | QUERÊNCIA | SP</c:v>
                </c:pt>
                <c:pt idx="7">
                  <c:v>PALACETE MONTE ALEGRE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3.97</c:v>
                </c:pt>
                <c:pt idx="1">
                  <c:v>23.1</c:v>
                </c:pt>
                <c:pt idx="2">
                  <c:v>71.8</c:v>
                </c:pt>
                <c:pt idx="3">
                  <c:v>74.44</c:v>
                </c:pt>
                <c:pt idx="4">
                  <c:v>84.07</c:v>
                </c:pt>
                <c:pt idx="5">
                  <c:v>138.17</c:v>
                </c:pt>
                <c:pt idx="6">
                  <c:v>149.92</c:v>
                </c:pt>
                <c:pt idx="7">
                  <c:v>304</c:v>
                </c:pt>
              </c:numCache>
            </c:numRef>
          </c:val>
        </c:ser>
        <c:dLbls>
          <c:numFmt formatCode="[$-416]#,##0.00" sourceLinked="0"/>
          <c:txPr>
            <a:bodyPr/>
            <a:lstStyle/>
            <a:p>
              <a:pPr>
                <a:defRPr b="1" i="0" strike="noStrike" sz="950" u="none">
                  <a:solidFill>
                    <a:srgbClr val="161F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1F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"/>
          <c:min val="0"/>
        </c:scaling>
        <c:delete val="0"/>
        <c:axPos val="b"/>
        <c:majorGridlines>
          <c:spPr>
            <a:ln w="9525" cap="flat">
              <a:solidFill>
                <a:srgbClr val="DAD7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EBDC"/>
        </a:solidFill>
        <a:ln>
          <a:noFill/>
        </a:ln>
        <a:effectLst/>
      </c:spPr>
    </c:plotArea>
    <c:plotVisOnly val="1"/>
    <c:dispBlanksAs val="span"/>
  </c:chart>
  <c:spPr>
    <a:solidFill>
      <a:srgbClr val="EDEBD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Investimento total de R$ 51.565 em agosto (-2,8% vs. julho), 1.472 leads (+4,3%) e CPL de R$ 35,04 (-6,8%).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canais ficaram proporcionais: Meta responde por 71,8% da verba e 71,4% dos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queda de leads do Google acompanha a queda de verba (-17,7%); o CPL do canal ficou praticamente estável.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Ganho de CPL do Meta veio de mudança de mix (lead form nativo), não de melhora uniforme do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421 conversões do Google são 100% ações de lead (formulário do site e WhatsApp do site) — não há conversão soft inflando 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R$ 304,00 vs R$ 3,97 = 77 vezes. Campanhas de resultado misto (CORPORATIVO | LP e Posts) ficam fora do ranking por não terem CPL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08008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83496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34472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85448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261872"/>
            <a:ext cx="2139696" cy="786384"/>
          </a:xfrm>
          <a:prstGeom prst="roundRect">
            <a:avLst>
              <a:gd name="adj" fmla="val 9302"/>
            </a:avLst>
          </a:prstGeom>
          <a:solidFill>
            <a:srgbClr val="262749"/>
          </a:solidFill>
          <a:ln w="9525">
            <a:solidFill>
              <a:srgbClr val="3B3C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61872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spc="32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TERRÁ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Mídia Paga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467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 de 2026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684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e Meta Ads  ·  comparativo com julho de 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828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65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R$ 51.565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-2,8% vs. julho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172968" y="4828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72968" y="5065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1.472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3172968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+4,3% vs. julho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0136" y="4828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660136" y="5065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R$ 35,04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5660136" y="5559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-6,8% vs. julho</a:t>
            </a:r>
            <a:endParaRPr lang="en-US" sz="1050" dirty="0"/>
          </a:p>
        </p:txBody>
      </p:sp>
      <p:pic>
        <p:nvPicPr>
          <p:cNvPr id="23" name="Image 0" descr="assets/we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44768"/>
            <a:ext cx="1481328" cy="21031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579815" y="6126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em 02/09/2026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verba, mais leads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517904"/>
            <a:ext cx="2513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  <a:effectLst>
            <a:outerShdw sx="100000" sy="100000" kx="0" ky="0" algn="bl" rotWithShape="0" blurRad="76200" dist="12700" dir="5400000">
              <a:srgbClr val="B9B4A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655064"/>
            <a:ext cx="207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883664"/>
            <a:ext cx="207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R$ 51.565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05256" y="2487168"/>
            <a:ext cx="914400" cy="256032"/>
          </a:xfrm>
          <a:prstGeom prst="roundRect">
            <a:avLst>
              <a:gd name="adj" fmla="val 46429"/>
            </a:avLst>
          </a:prstGeom>
          <a:solidFill>
            <a:srgbClr val="E3E0C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-2,8%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911096" y="2487168"/>
            <a:ext cx="106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R$ 53.030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54832" y="1517904"/>
            <a:ext cx="2513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  <a:effectLst>
            <a:outerShdw sx="100000" sy="100000" kx="0" ky="0" algn="bl" rotWithShape="0" blurRad="76200" dist="12700" dir="5400000">
              <a:srgbClr val="B9B4A0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74288" y="1655064"/>
            <a:ext cx="207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GERADOS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1883664"/>
            <a:ext cx="207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1.472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3674288" y="2487168"/>
            <a:ext cx="914400" cy="256032"/>
          </a:xfrm>
          <a:prstGeom prst="roundRect">
            <a:avLst>
              <a:gd name="adj" fmla="val 46429"/>
            </a:avLst>
          </a:prstGeom>
          <a:solidFill>
            <a:srgbClr val="C2CA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428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+4,3%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80128" y="2487168"/>
            <a:ext cx="106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1.411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3864" y="1517904"/>
            <a:ext cx="2513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  <a:effectLst>
            <a:outerShdw sx="100000" sy="100000" kx="0" ky="0" algn="bl" rotWithShape="0" blurRad="76200" dist="12700" dir="5400000">
              <a:srgbClr val="B9B4A0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3320" y="1655064"/>
            <a:ext cx="207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43320" y="1883664"/>
            <a:ext cx="207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R$ 35,04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6443320" y="2487168"/>
            <a:ext cx="914400" cy="256032"/>
          </a:xfrm>
          <a:prstGeom prst="roundRect">
            <a:avLst>
              <a:gd name="adj" fmla="val 46429"/>
            </a:avLst>
          </a:prstGeom>
          <a:solidFill>
            <a:srgbClr val="C2CA9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3320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-6,8%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49160" y="2487168"/>
            <a:ext cx="106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R$ 37,59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92895" y="1517904"/>
            <a:ext cx="2513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  <a:effectLst>
            <a:outerShdw sx="100000" sy="100000" kx="0" ky="0" algn="bl" rotWithShape="0" blurRad="76200" dist="12700" dir="5400000">
              <a:srgbClr val="B9B4A0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12351" y="1655064"/>
            <a:ext cx="207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212351" y="1883664"/>
            <a:ext cx="207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44.401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9212351" y="2487168"/>
            <a:ext cx="914400" cy="256032"/>
          </a:xfrm>
          <a:prstGeom prst="roundRect">
            <a:avLst>
              <a:gd name="adj" fmla="val 46429"/>
            </a:avLst>
          </a:prstGeom>
          <a:solidFill>
            <a:srgbClr val="C2CA9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12351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+2,0%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218191" y="2487168"/>
            <a:ext cx="106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43.513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145536"/>
            <a:ext cx="10820095" cy="932688"/>
          </a:xfrm>
          <a:prstGeom prst="roundRect">
            <a:avLst>
              <a:gd name="adj" fmla="val 6863"/>
            </a:avLst>
          </a:prstGeom>
          <a:solidFill>
            <a:srgbClr val="161F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6696" y="3145536"/>
            <a:ext cx="1019830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ficou mais eficiente.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entregou 61 leads a mais que julho gastando R$ 1.465 a menos. Cada lead custou R$ 2,55 mais barato — uma economia equivalente a R$ 3.757 sobre o volume do mês.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279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por canal em agosto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663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23160" y="4718304"/>
            <a:ext cx="6521844" cy="292608"/>
          </a:xfrm>
          <a:prstGeom prst="roundRect">
            <a:avLst>
              <a:gd name="adj" fmla="val 15625"/>
            </a:avLst>
          </a:prstGeom>
          <a:solidFill>
            <a:srgbClr val="8A65C4"/>
          </a:solidFill>
          <a:ln/>
        </p:spPr>
      </p:sp>
      <p:sp>
        <p:nvSpPr>
          <p:cNvPr id="34" name="Shape 32"/>
          <p:cNvSpPr/>
          <p:nvPr/>
        </p:nvSpPr>
        <p:spPr>
          <a:xfrm>
            <a:off x="8990724" y="4718304"/>
            <a:ext cx="2515171" cy="292608"/>
          </a:xfrm>
          <a:prstGeom prst="roundRect">
            <a:avLst>
              <a:gd name="adj" fmla="val 15625"/>
            </a:avLst>
          </a:prstGeom>
          <a:solidFill>
            <a:srgbClr val="C2CA9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532888" y="4718304"/>
            <a:ext cx="6302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71,8%  ·  R$ 37.026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054732" y="4718304"/>
            <a:ext cx="24511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28,2%  ·  R$ 14.539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4132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23160" y="5468112"/>
            <a:ext cx="6486125" cy="292608"/>
          </a:xfrm>
          <a:prstGeom prst="roundRect">
            <a:avLst>
              <a:gd name="adj" fmla="val 15625"/>
            </a:avLst>
          </a:prstGeom>
          <a:solidFill>
            <a:srgbClr val="8A65C4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5005" y="5468112"/>
            <a:ext cx="2550890" cy="292608"/>
          </a:xfrm>
          <a:prstGeom prst="roundRect">
            <a:avLst>
              <a:gd name="adj" fmla="val 15625"/>
            </a:avLst>
          </a:prstGeom>
          <a:solidFill>
            <a:srgbClr val="C2CA9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532888" y="5468112"/>
            <a:ext cx="62666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71,4%  ·  1.051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019013" y="5468112"/>
            <a:ext cx="2486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28,6%  ·  421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43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verde: evolução favorável. Chip roxo: ponto de atenção. Chip cinza: variação de alocação, sem leitura de performance.</a:t>
            </a:r>
            <a:endParaRPr lang="en-US" sz="900" dirty="0"/>
          </a:p>
        </p:txBody>
      </p:sp>
      <p:pic>
        <p:nvPicPr>
          <p:cNvPr id="43" name="Image 0" descr="assets/wec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X JULHO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por canal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99616"/>
          <a:ext cx="10820095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1060704"/>
                <a:gridCol w="1060704"/>
                <a:gridCol w="841248"/>
                <a:gridCol w="914400"/>
                <a:gridCol w="914400"/>
                <a:gridCol w="896112"/>
                <a:gridCol w="932688"/>
                <a:gridCol w="932688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Invest.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Invest. 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 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EB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F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R$ 35.360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R$ 37.026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68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+4,7%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+16,0%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R$ 39,03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R$ 35,23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-9,7%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R$ 17.670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R$ 14.539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68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-17,7%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65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-16,6%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R$ 35,01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R$ 34,55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-1,3%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R$ 53.030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R$ 51.565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E68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-2,8%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+4,3%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R$ 35,04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-6,8%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7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85800" y="3273552"/>
          <a:ext cx="5806440" cy="2670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675120" y="3273552"/>
          <a:ext cx="4828032" cy="2670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8" name="Image 0" descr="assets/wecon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canal que puxou o mês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R$ 37.026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2104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E3E0C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+4,7%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9629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5933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65933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65933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C2CA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65933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+16,0%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3458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9762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99762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R$ 35,23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99762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C2CA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99762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-9,7%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7288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3592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33592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33592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C2CA9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33592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+14,6%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21117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67421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67421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761.721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67421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8A65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67421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-22,8%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54946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01250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001250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01250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8A65C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01250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+19,3%</a:t>
            </a:r>
            <a:endParaRPr lang="en-US" sz="10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85800" y="2926080"/>
          <a:ext cx="6309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7223760" y="3054096"/>
            <a:ext cx="428213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06640" y="3108960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nativo dobrou.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366 para 711 leads (+94%). O cluster “Social &gt; Querência &gt; Destination” sozinho trouxe 515 leads a R$ 9,37 usando 13% da verba do canal.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223760" y="4023360"/>
            <a:ext cx="428213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4078224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 WhatsApp recuaram.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no site caiu 41% (413 → 245) e conversas no WhatsApp, 25% (127 → 95). A troca de mix explica quase todo o ganho de CPL.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223760" y="4992624"/>
            <a:ext cx="428213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06640" y="5047488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começou a saturar.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caiu 22,8% e a frequência subiu de 2,85 para 3,40. O CTR melhorou 15%, então o criativo funciona — falta público novo.</a:t>
            </a:r>
            <a:endParaRPr lang="en-US" sz="1100" dirty="0"/>
          </a:p>
        </p:txBody>
      </p:sp>
      <p:pic>
        <p:nvPicPr>
          <p:cNvPr id="42" name="Image 0" descr="assets/wec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verba, mesma eficiência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R$ 14.539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2104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E3E0C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-17,7%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9629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5933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65933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65933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8A65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65933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-16,6%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3458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9762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99762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R$ 34,55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99762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C2CA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99762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-1,3%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7288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3592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33592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6,49%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33592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8A65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33592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-23,8%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21117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67421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MÉDIO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67421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R$ 2,46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67421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C2CA9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67421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-2,8%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54946" y="1499616"/>
            <a:ext cx="165094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01250" y="1609344"/>
            <a:ext cx="1358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001250" y="1847088"/>
            <a:ext cx="13583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42,1%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01250" y="2313432"/>
            <a:ext cx="896112" cy="246888"/>
          </a:xfrm>
          <a:prstGeom prst="roundRect">
            <a:avLst>
              <a:gd name="adj" fmla="val 48148"/>
            </a:avLst>
          </a:prstGeom>
          <a:solidFill>
            <a:srgbClr val="E3E0C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01250" y="231343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-0,5%</a:t>
            </a:r>
            <a:endParaRPr lang="en-US" sz="10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85800" y="2944368"/>
          <a:ext cx="6675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7589520" y="2999232"/>
            <a:ext cx="391637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63256" y="3172968"/>
            <a:ext cx="118872" cy="118872"/>
          </a:xfrm>
          <a:prstGeom prst="ellipse">
            <a:avLst/>
          </a:prstGeom>
          <a:solidFill>
            <a:srgbClr val="C2CA9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955280" y="3090672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Max carrega a conta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7955280" y="3346704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18,8% da verba → 73,4% dos leads. Corporativo PMax a R$ 3,97 e Casamento PMax a R$ 23,10.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589520" y="4005072"/>
            <a:ext cx="391637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63256" y="4178808"/>
            <a:ext cx="118872" cy="118872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955280" y="4096512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 casamento está caro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955280" y="4352544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Querência SP, Bodas e Palacete somam 47,8% da verba e apenas 10,9% dos leads, com CPL de R$ 138 a R$ 304.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589520" y="5010912"/>
            <a:ext cx="391637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63256" y="5184648"/>
            <a:ext cx="118872" cy="118872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955280" y="5102352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Palacete: paga caro pelo que já domina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7955280" y="5358384"/>
            <a:ext cx="33860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 de 62,2% — o maior da conta — e CPL de R$ 304. Ampliar cobertura ali custa muito e rende pouco.</a:t>
            </a:r>
            <a:endParaRPr lang="en-US" sz="1000" dirty="0"/>
          </a:p>
        </p:txBody>
      </p:sp>
      <p:pic>
        <p:nvPicPr>
          <p:cNvPr id="48" name="Image 0" descr="assets/wec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lead sai barato e onde sai caro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09344"/>
            <a:ext cx="128016" cy="128016"/>
          </a:xfrm>
          <a:prstGeom prst="ellipse">
            <a:avLst/>
          </a:prstGeom>
          <a:solidFill>
            <a:srgbClr val="C2CA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1517904"/>
            <a:ext cx="498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Puxando o resultado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56816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029968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 — PMax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304288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R$ 912  ·  230 leads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40200" y="20482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R$ 3,97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40200" y="2340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724912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2798064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&gt; Querência &gt; Destination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3072384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R$ 4.828  ·  515 leads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40200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R$ 9,37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4020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493008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3566160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&gt; Debutantes &gt; Leads form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3840480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R$ 1.195  ·  110 leads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40200" y="3584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R$ 10,86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340200" y="3877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4261104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4334256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 — PMax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4608576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R$ 1.825  ·  79 leads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340200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R$ 23,10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34020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029200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6968" y="5102352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[Leads Ads] Casamentos (form)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86968" y="5376672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R$ 1.840  ·  75 leads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40200" y="5120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R$ 24,54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4340200" y="5413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8728" y="1609344"/>
            <a:ext cx="128016" cy="12801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16472" y="1517904"/>
            <a:ext cx="498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Pesando no custo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78728" y="1956816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79896" y="2029968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| Palacete Monte Alegre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79896" y="2304288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R$ 608  ·  2 leads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933127" y="20482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R$ 304,00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933127" y="2340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8728" y="2724912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79896" y="2798064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 &gt; Institucional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79896" y="3072384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R$ 2.058  ·  11 leads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933127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R$ 187,05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933127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78728" y="3493008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79896" y="3566160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CASAMENTOS | Terrá | Site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79896" y="3840480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R$ 965  ·  6 leads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933127" y="3584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R$ 160,89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933127" y="3877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78728" y="4261104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79896" y="4334256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| Casamento | Querência SP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79896" y="4608576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R$ 3.298  ·  22 leads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933127" y="4352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R$ 149,92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9933127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78728" y="5029200"/>
            <a:ext cx="5227168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79896" y="5102352"/>
            <a:ext cx="353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| Bodas | Terrá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79896" y="5376672"/>
            <a:ext cx="353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R$ 3.040  ·  22 leads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933127" y="5120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6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R$ 138,17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9933127" y="5413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lead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5815584"/>
            <a:ext cx="9265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topo à base desta lista o custo por lead varia 77 vezes. Realocar verba dentro da própria conta é a alavanca mais barata para setembro.</a:t>
            </a:r>
            <a:endParaRPr lang="en-US" sz="1150" dirty="0"/>
          </a:p>
        </p:txBody>
      </p:sp>
      <p:pic>
        <p:nvPicPr>
          <p:cNvPr id="60" name="Image 0" descr="assets/wec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61" name="Text 58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MÊS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810512"/>
            <a:ext cx="365760" cy="365760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267712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ficou mais eficiente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816352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2,8% menos verba, agosto entregou 4,3% mais leads. O CPL consolidado caiu de R$ 37,59 para R$ 35,04.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90034" y="1572768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6066" y="1810512"/>
            <a:ext cx="365760" cy="365760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6066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46066" y="2267712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Meta foi o motor do mês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2816352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+4,7% de verba viraram +16% de leads e CPL 9,7% menor. Foi o único canal que cresceu em volume.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4269" y="1572768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0301" y="1810512"/>
            <a:ext cx="365760" cy="365760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0301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50301" y="2267712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Google não piorou — foi desinvestido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50301" y="2816352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leads caíram 16,6% porque a verba caiu 17,7%. O CPL do canal ficou praticamente igual (-1,3%): foi decisão de alocação, não perda de performance.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785616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023360"/>
            <a:ext cx="365760" cy="365760"/>
          </a:xfrm>
          <a:prstGeom prst="ellipse">
            <a:avLst/>
          </a:prstGeom>
          <a:solidFill>
            <a:srgbClr val="C2CA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183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4480560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virada veio do formulário nativo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5029200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ads saltaram 94% (366 → 711) enquanto o formulário do site caiu 41%. Antes de escalar, é preciso validar no CRM se esse lead converte igual.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90034" y="3785616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6066" y="4023360"/>
            <a:ext cx="365760" cy="365760"/>
          </a:xfrm>
          <a:prstGeom prst="ellipse">
            <a:avLst/>
          </a:prstGeom>
          <a:solidFill>
            <a:srgbClr val="C2CA9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46066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46066" y="4480560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Meta começou a saturar público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646066" y="5029200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-22,8% e frequência de 2,85 para 3,40. Está falando mais vezes com menos gente, e o CPM subiu 13,9%.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94269" y="3785616"/>
            <a:ext cx="3411626" cy="1975104"/>
          </a:xfrm>
          <a:prstGeom prst="roundRect">
            <a:avLst>
              <a:gd name="adj" fmla="val 3241"/>
            </a:avLst>
          </a:prstGeom>
          <a:solidFill>
            <a:srgbClr val="1E2833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0301" y="4023360"/>
            <a:ext cx="365760" cy="365760"/>
          </a:xfrm>
          <a:prstGeom prst="ellipse">
            <a:avLst/>
          </a:prstGeom>
          <a:solidFill>
            <a:srgbClr val="C2CA9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50301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50301" y="4480560"/>
            <a:ext cx="28995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Google, a PMax sustenta o resultado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350301" y="5029200"/>
            <a:ext cx="2899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A9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18,8% da verba geram 73,4% dos leads. Já o Search de casamento consome 47,8% da verba para 10,9% dos leads.</a:t>
            </a:r>
            <a:endParaRPr lang="en-US" sz="1050" dirty="0"/>
          </a:p>
        </p:txBody>
      </p:sp>
      <p:pic>
        <p:nvPicPr>
          <p:cNvPr id="35" name="Image 0" descr="assets/we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 em setembro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517904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737360"/>
            <a:ext cx="347472" cy="347472"/>
          </a:xfrm>
          <a:prstGeom prst="ellipse">
            <a:avLst/>
          </a:prstGeom>
          <a:solidFill>
            <a:srgbClr val="161F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18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Realocar R$ 3 a 4 mil do Search caro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89280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Querência SP, Bodas e Palacete e mover a verba para Performance Max e para o cluster de lead form do Meta, que hoje entregam lead entre R$ 4 e R$ 24.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71455" y="1773936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161F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71455" y="17739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642616"/>
            <a:ext cx="347472" cy="347472"/>
          </a:xfrm>
          <a:prstGeom prst="ellipse">
            <a:avLst/>
          </a:prstGeom>
          <a:solidFill>
            <a:srgbClr val="161F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25237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Auditar a qualidade dos 711 leads de formulário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279806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com o CRM taxa de contato, de agendamento e de visita. Se o lead nativo converter abaixo do formulário de site, o CPL menor é ilusório.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71455" y="2679192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8A65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71455" y="2679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328416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3547872"/>
            <a:ext cx="347472" cy="347472"/>
          </a:xfrm>
          <a:prstGeom prst="ellipse">
            <a:avLst/>
          </a:prstGeom>
          <a:solidFill>
            <a:srgbClr val="161F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3429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Renovar criativos e ampliar públicos no Meta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37033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em 3,40 e alcance em queda. Novos criativos e expansão de audiência para segurar o CPM antes que o CPL volte a subir.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271455" y="3584448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161F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71455" y="3584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233672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" y="4453128"/>
            <a:ext cx="347472" cy="347472"/>
          </a:xfrm>
          <a:prstGeom prst="ellipse">
            <a:avLst/>
          </a:prstGeom>
          <a:solidFill>
            <a:srgbClr val="161F2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435608" y="43342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Palacete Monte Alegre no Search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460857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62,2% de impression share e CPL de R$ 304. Reduzir lance ou pausar e testar o mesmo público via PMax.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71455" y="4489704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C2CA9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71455" y="4489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5138928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AD7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832" y="5358384"/>
            <a:ext cx="347472" cy="347472"/>
          </a:xfrm>
          <a:prstGeom prst="ellipse">
            <a:avLst/>
          </a:prstGeom>
          <a:solidFill>
            <a:srgbClr val="161F2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58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435608" y="5239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 a queda de CTR do Google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55138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de 8,52% para 6,49% com 11% mais impressões: entrou volume menos qualificado. Revisar termos de busca e cobertura da PMax.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271455" y="5394960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C2CA9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271455" y="5394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071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sugerida pela Wecon com base no impacto estimado sobre o custo por lead de setembro.</a:t>
            </a:r>
            <a:endParaRPr lang="en-US" sz="950" dirty="0"/>
          </a:p>
        </p:txBody>
      </p:sp>
      <p:pic>
        <p:nvPicPr>
          <p:cNvPr id="41" name="Image 0" descr="assets/wec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345936"/>
            <a:ext cx="1051560" cy="149047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685800" y="62910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Terrá · Relatório de mídia · Agosto 2026  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08008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83496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34472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C2CA97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85448" y="1051560"/>
            <a:ext cx="214884" cy="4754880"/>
          </a:xfrm>
          <a:prstGeom prst="roundRect">
            <a:avLst>
              <a:gd name="adj" fmla="val 46809"/>
            </a:avLst>
          </a:prstGeom>
          <a:solidFill>
            <a:srgbClr val="8A65C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475488"/>
            <a:ext cx="105156" cy="105156"/>
          </a:xfrm>
          <a:prstGeom prst="ellipse">
            <a:avLst/>
          </a:prstGeom>
          <a:solidFill>
            <a:srgbClr val="8A65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84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731520"/>
            <a:ext cx="9357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estes números foram apurados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627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1627632"/>
            <a:ext cx="5989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 (conta 654-214-0100) e Meta Ads (conta DI TERRÁ, 434423524017005). Períodos fechados de 01 a 31/07/2026 e 01 a 31/08/2026, no fuso da conta.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670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LEAD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670048"/>
            <a:ext cx="5989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Ads: 100% das conversões são ações de lead — formulário do site e WhatsApp do site. Meta Ads: soma de formulários nativos, formulários do site (pixel) e conversas iniciadas no WhatsApp.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124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12464"/>
            <a:ext cx="5989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Meta, campanhas de resultado misto ou de reconhecimento (CORPORATIVO | LP, Posts e Reconhecimento de Marca) não têm CPL único e ficam fora da contagem de leads. Elas representam 15,6% da verba em agosto e 15,3% em julho, o que mantém a comparação entre os meses equivalente.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54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2C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ARREDONDAMENTO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754880"/>
            <a:ext cx="5989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3C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conversões do Google são fracionadas por atribuição (420,75 em agosto e 504,78 em julho) e aparecem arredondadas nos gráficos. Os cálculos de CPL usam os valores cheios.</a:t>
            </a:r>
            <a:endParaRPr lang="en-US" sz="1100" dirty="0"/>
          </a:p>
        </p:txBody>
      </p:sp>
      <p:pic>
        <p:nvPicPr>
          <p:cNvPr id="20" name="Image 0" descr="assets/we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16752"/>
            <a:ext cx="1481328" cy="21031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579815" y="59984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wecondigital.com.br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Wecon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 Terrá — Relatório de Mídia — Agosto 2026</dc:title>
  <dc:subject>PptxGenJS Presentation</dc:subject>
  <dc:creator>Wecon Agency</dc:creator>
  <cp:lastModifiedBy>Wecon Agency</cp:lastModifiedBy>
  <cp:revision>1</cp:revision>
  <dcterms:created xsi:type="dcterms:W3CDTF">2026-09-02T15:16:16Z</dcterms:created>
  <dcterms:modified xsi:type="dcterms:W3CDTF">2026-09-02T15:16:16Z</dcterms:modified>
</cp:coreProperties>
</file>